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346f66ef07480c" /><Relationship Type="http://schemas.openxmlformats.org/officeDocument/2006/relationships/extended-properties" Target="/docProps/app.xml" Id="R141e47df77824b86" /><Relationship Type="http://schemas.openxmlformats.org/officeDocument/2006/relationships/officeDocument" Target="/ppt/presentation.xml" Id="Rf8750aff71c145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0e4f2b35e5403c"/>
  </p:sldMasterIdLst>
  <p:notesMasterIdLst>
    <p:notesMasterId xmlns:r="http://schemas.openxmlformats.org/officeDocument/2006/relationships" r:id="Rf8c88baa0eb24248"/>
  </p:notesMasterIdLst>
  <p:sldIdLst>
    <p:sldId xmlns:r="http://schemas.openxmlformats.org/officeDocument/2006/relationships" id="256" r:id="Rf2d33203bb954f96"/>
    <p:sldId xmlns:r="http://schemas.openxmlformats.org/officeDocument/2006/relationships" id="257" r:id="Rfdb32c7d323d431c"/>
    <p:sldId xmlns:r="http://schemas.openxmlformats.org/officeDocument/2006/relationships" id="258" r:id="Ra052539caebc4fb4"/>
    <p:sldId xmlns:r="http://schemas.openxmlformats.org/officeDocument/2006/relationships" id="259" r:id="R68b0763917624824"/>
    <p:sldId xmlns:r="http://schemas.openxmlformats.org/officeDocument/2006/relationships" id="260" r:id="Ra1950e921f6a400f"/>
    <p:sldId xmlns:r="http://schemas.openxmlformats.org/officeDocument/2006/relationships" id="261" r:id="Rb342749313354ab8"/>
    <p:sldId xmlns:r="http://schemas.openxmlformats.org/officeDocument/2006/relationships" id="262" r:id="R08ee70c0081c4973"/>
    <p:sldId xmlns:r="http://schemas.openxmlformats.org/officeDocument/2006/relationships" id="263" r:id="Rdfce298081534cba"/>
    <p:sldId xmlns:r="http://schemas.openxmlformats.org/officeDocument/2006/relationships" id="264" r:id="R9f34b6d78b8d4c1b"/>
    <p:sldId xmlns:r="http://schemas.openxmlformats.org/officeDocument/2006/relationships" id="265" r:id="Ree3b9fe6d6f94fbe"/>
    <p:sldId xmlns:r="http://schemas.openxmlformats.org/officeDocument/2006/relationships" id="266" r:id="R32bc385fc7504d54"/>
    <p:sldId xmlns:r="http://schemas.openxmlformats.org/officeDocument/2006/relationships" id="267" r:id="R248973ed4a7a43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c6e9ee0ad74d25" /><Relationship Type="http://schemas.openxmlformats.org/officeDocument/2006/relationships/slideMaster" Target="/ppt/slideMasters/slideMaster1.xml" Id="Re60e4f2b35e5403c" /><Relationship Type="http://schemas.openxmlformats.org/officeDocument/2006/relationships/notesMaster" Target="/ppt/notesMasters/notesMaster1.xml" Id="Rf8c88baa0eb24248" /><Relationship Type="http://schemas.openxmlformats.org/officeDocument/2006/relationships/presProps" Target="/ppt/presProps.xml" Id="R86de8fa1310243e2" /><Relationship Type="http://schemas.openxmlformats.org/officeDocument/2006/relationships/tableStyles" Target="/ppt/tableStyles.xml" Id="R6fd7cd735ae744f6" /><Relationship Type="http://schemas.openxmlformats.org/officeDocument/2006/relationships/slide" Target="/ppt/slides/slide1.xml" Id="Rf2d33203bb954f96" /><Relationship Type="http://schemas.openxmlformats.org/officeDocument/2006/relationships/slide" Target="/ppt/slides/slide2.xml" Id="Rfdb32c7d323d431c" /><Relationship Type="http://schemas.openxmlformats.org/officeDocument/2006/relationships/slide" Target="/ppt/slides/slide3.xml" Id="Ra052539caebc4fb4" /><Relationship Type="http://schemas.openxmlformats.org/officeDocument/2006/relationships/slide" Target="/ppt/slides/slide4.xml" Id="R68b0763917624824" /><Relationship Type="http://schemas.openxmlformats.org/officeDocument/2006/relationships/slide" Target="/ppt/slides/slide5.xml" Id="Ra1950e921f6a400f" /><Relationship Type="http://schemas.openxmlformats.org/officeDocument/2006/relationships/slide" Target="/ppt/slides/slide6.xml" Id="Rb342749313354ab8" /><Relationship Type="http://schemas.openxmlformats.org/officeDocument/2006/relationships/slide" Target="/ppt/slides/slide7.xml" Id="R08ee70c0081c4973" /><Relationship Type="http://schemas.openxmlformats.org/officeDocument/2006/relationships/slide" Target="/ppt/slides/slide8.xml" Id="Rdfce298081534cba" /><Relationship Type="http://schemas.openxmlformats.org/officeDocument/2006/relationships/slide" Target="/ppt/slides/slide9.xml" Id="R9f34b6d78b8d4c1b" /><Relationship Type="http://schemas.openxmlformats.org/officeDocument/2006/relationships/slide" Target="/ppt/slides/slide10.xml" Id="Ree3b9fe6d6f94fbe" /><Relationship Type="http://schemas.openxmlformats.org/officeDocument/2006/relationships/slide" Target="/ppt/slides/slide11.xml" Id="R32bc385fc7504d54" /><Relationship Type="http://schemas.openxmlformats.org/officeDocument/2006/relationships/slide" Target="/ppt/slides/slide12.xml" Id="R248973ed4a7a43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d3edfe2cf144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e9fc12b4974488" /><Relationship Type="http://schemas.openxmlformats.org/officeDocument/2006/relationships/notesMaster" Target="/ppt/notesMasters/notesMaster1.xml" Id="R242b3916382640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613c9e24e54307" /><Relationship Type="http://schemas.openxmlformats.org/officeDocument/2006/relationships/notesMaster" Target="/ppt/notesMasters/notesMaster1.xml" Id="Raf2ebfea3ff34f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7de8cb08b4417f" /><Relationship Type="http://schemas.openxmlformats.org/officeDocument/2006/relationships/notesMaster" Target="/ppt/notesMasters/notesMaster1.xml" Id="R23f173d90f2944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2ea56bf8ab440b" /><Relationship Type="http://schemas.openxmlformats.org/officeDocument/2006/relationships/notesMaster" Target="/ppt/notesMasters/notesMaster1.xml" Id="Rbe9d4ba43ec84d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edae8ce353454f" /><Relationship Type="http://schemas.openxmlformats.org/officeDocument/2006/relationships/notesMaster" Target="/ppt/notesMasters/notesMaster1.xml" Id="Rc5c8effba9fd46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b5acb5c3854f67" /><Relationship Type="http://schemas.openxmlformats.org/officeDocument/2006/relationships/notesMaster" Target="/ppt/notesMasters/notesMaster1.xml" Id="R43d9401c80264c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5a060a9e4f4651" /><Relationship Type="http://schemas.openxmlformats.org/officeDocument/2006/relationships/notesMaster" Target="/ppt/notesMasters/notesMaster1.xml" Id="Rbf3cda643ae44f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609e12f70a40d9" /><Relationship Type="http://schemas.openxmlformats.org/officeDocument/2006/relationships/notesMaster" Target="/ppt/notesMasters/notesMaster1.xml" Id="R3792c1f458c145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f4638995a64190" /><Relationship Type="http://schemas.openxmlformats.org/officeDocument/2006/relationships/notesMaster" Target="/ppt/notesMasters/notesMaster1.xml" Id="R1de0d2d2e1464d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9a9dc4f781944a9" /><Relationship Type="http://schemas.openxmlformats.org/officeDocument/2006/relationships/notesMaster" Target="/ppt/notesMasters/notesMaster1.xml" Id="R1fd730e8f5b6443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04d602ac1bb4283" /><Relationship Type="http://schemas.openxmlformats.org/officeDocument/2006/relationships/notesMaster" Target="/ppt/notesMasters/notesMaster1.xml" Id="Rd9f5b596d860466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346018cc135437f" /><Relationship Type="http://schemas.openxmlformats.org/officeDocument/2006/relationships/notesMaster" Target="/ppt/notesMasters/notesMaster1.xml" Id="R48bb8761f2204e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30 秒。介绍平台面向河北区域的本地遥感影像变化检测，本次汇报覆盖截至当前的阶段成果。以当前工作区为准，含尚未提交的行政区改进；不能等同于已发布版本。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证据（项目根目录相对路径）：README.md；docs/CURRENT_STATUS.md；docs/administrative-boundaries.md</a:t>
            </a:r>
          </a:p>
          <a:p xmlns:a="http://schemas.openxmlformats.org/drawingml/2006/main">
            <a:r>
              <a:t>核对日期：2026-10-17。报告为已有记录，本次制作未重跑产品验收。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60 秒。按四类成果说明阶段进展，不使用完成百分比。已有软件能力不等于业务精度已验收，AI 仍以受控工具调用为边界。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证据（项目根目录相对路径）：README.md；docs/CURRENT_STATUS.md；docs/ai-assistant-review.md</a:t>
            </a:r>
          </a:p>
          <a:p xmlns:a="http://schemas.openxmlformats.org/drawingml/2006/main">
            <a:r>
              <a:t>核对日期：2026-10-17。报告为已有记录，本次制作未重跑产品验收。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60 秒。按流程讲业务用途。平台产出变化候选，仍需人员结合标注或业务资料核查。月时相由同月有效影像组织；来源覆盖必须结合实际目录判断。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证据（项目根目录相对路径）：README.md；docs/CURRENT_STATUS.md；frontend/src/composables/useWorkspace.ts</a:t>
            </a:r>
          </a:p>
          <a:p xmlns:a="http://schemas.openxmlformats.org/drawingml/2006/main">
            <a:r>
              <a:t>核对日期：2026-10-17。报告为已有记录，本次制作未重跑产品验收。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60 秒。强调分工与可追溯性，不逐项讲技术栈细节。平台检测使用 CUDA ONNX，独立 CLI 的 CPU 能力不作为产品能力。源影像和模型只读，派生结果单独保存。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证据（项目根目录相对路径）：README.md；docs/CURRENT_STATUS.md；backend-go/internal/api/images.go；frontend/src/composables/useWorkspace.ts</a:t>
            </a:r>
          </a:p>
          <a:p xmlns:a="http://schemas.openxmlformats.org/drawingml/2006/main">
            <a:r>
              <a:t>核对日期：2026-10-17。报告为已有记录，本次制作未重跑产品验收。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75 秒。14 个数指来源入口，不代表全省影像全覆盖。行政知识库包含 1 省、11 市、167 县。完整县界保留部件和孔洞，服务端校验代码、来源及版本。截图为真实边界配合模拟影像任务接口，仅展示操作能力，未完成真实整县推理。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证据（项目根目录相对路径）：docs/administrative-boundaries.md；data/validation/administrative-source-14/report.json；data/validation/administrative-boundaries/validation-report.md；frontend/src/composables/useWorkspace.ts</a:t>
            </a:r>
          </a:p>
          <a:p xmlns:a="http://schemas.openxmlformats.org/drawingml/2006/main">
            <a:r>
              <a:t>核对日期：2026-10-17。报告为已有记录，本次制作未重跑产品验收。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65 秒。自定义选区为矩形及单环多边形；可信县界是独立完整几何路径。多时相默认相邻组顺序提交，AI 明确两个日期时仅选对应两期。切页可继续，刷新会丢失尚未提交组的前端编排。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证据（项目根目录相对路径）：frontend/src/composables/useWorkspace.ts；docs/CURRENT_STATUS.md；docs/ai-assistant-review.md；docs/administrative-boundaries.md</a:t>
            </a:r>
          </a:p>
          <a:p xmlns:a="http://schemas.openxmlformats.org/drawingml/2006/main">
            <a:r>
              <a:t>核对日期：2026-10-17。报告为已有记录，本次制作未重跑产品验收。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75 秒。截图来自确定性浏览器夹具，图像、面积、图斑数和置信度均不作为实测业务成果。当前功能支持三图联动、热点和图斑检查。置信度分布用于查看模型得分，不等于准确率。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证据（项目根目录相对路径）：data/validation/workspace-ui/report.json；docs/CURRENT_STATUS.md；frontend/src/views/Comparison.vue；frontend/src/views/Reports.vue</a:t>
            </a:r>
          </a:p>
          <a:p xmlns:a="http://schemas.openxmlformats.org/drawingml/2006/main">
            <a:r>
              <a:t>核对日期：2026-10-17。报告为已有记录，本次制作未重跑产品验收。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80 秒。示例是表达方式示意，不是本次真实云模型对话记录。关键改进是完整目录可查询、明确两期不扩大为日期区间、矩形 AOI 可提交、版本变化和重复提交受控。测试采用模型和 HTTP 夹具，不能宣称真实语义识别成功率或效率提升。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证据（项目根目录相对路径）：docs/ai-assistant-review.md；data/validation/ai-browser/report.json；frontend/src/composables/useWorkspace.ts；backend-go/internal/api/ai_domain_services.go</a:t>
            </a:r>
          </a:p>
          <a:p xmlns:a="http://schemas.openxmlformats.org/drawingml/2006/main">
            <a:r>
              <a:t>核对日期：2026-10-17。报告为已有记录，本次制作未重跑产品验收。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80 秒。行政区 live-api-report 与 validation-report 支持真实服务入库和查询；浏览器报告是模拟影像与任务。AI 回归使用确定性夹具。历史文档提及 CUDA 推理与导出通过，但 management 报告缺失，polygon/progress 目录读取被拒绝，因此本次未独立核实，不能作为当前版本全面验收结论。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（项目根目录相对路径）：data/validation/administrative-boundaries/live-api-report.json；data/validation/administrative-boundaries/validation-report.md；data/validation/administrative-source-14/report.json；data/validation/ai-browser/report.json；data/validation/workspace-ui/report.json；docs/CURRENT_STATUS.md</a:t>
            </a:r>
          </a:p>
          <a:p xmlns:a="http://schemas.openxmlformats.org/drawingml/2006/main">
            <a:r>
              <a:t>核对日期：2026-10-17。报告为已有记录，本次制作未重跑产品验收。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75 秒。精度与稳定性是两个独立维度。不要将运行通过当成精度可靠，也不要用一次演示替代大范围长时验证。刷新/关闭会丢失未提交组编排，Go 重启会将未完成任务标为中断失败。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证据（项目根目录相对路径）：docs/CURRENT_STATUS.md；docs/ROADMAP.md；docs/ai-assistant-capability-todo.md</a:t>
            </a:r>
          </a:p>
          <a:p xmlns:a="http://schemas.openxmlformats.org/drawingml/2006/main">
            <a:r>
              <a:t>核对日期：2026-10-17。报告为已有记录，本次制作未重跑产品验收。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75 秒。此页为建议优先级，不是已承诺排期。第一步先锁定试点区域、时相和参考标注，再建立可重复案例及精度指标；第二步测大范围运行与恢复；第三步在约束范围内评估 AI 真实调用并推进持续工作流、自主探索。后两者仍为规划。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证据（项目根目录相对路径）：docs/ROADMAP.md；docs/ai-assistant-capability-todo.md</a:t>
            </a:r>
          </a:p>
          <a:p xmlns:a="http://schemas.openxmlformats.org/drawingml/2006/main">
            <a:r>
              <a:t>核对日期：2026-10-17。报告为已有记录，本次制作未重跑产品验收。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60 秒。总结当前已实现的主要流程及近期行政区、AI 进展。请领导讨论试点范围、标注条件与验收目标；这些是本次建议，不是已知阻塞或已确认资源需求。不要承诺未经讨论的日期。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证据（项目根目录相对路径）：README.md；docs/CURRENT_STATUS.md；docs/ROADMAP.md；docs/ai-assistant-capability-todo.md</a:t>
            </a:r>
          </a:p>
          <a:p xmlns:a="http://schemas.openxmlformats.org/drawingml/2006/main">
            <a:r>
              <a:t>核对日期：2026-10-17。报告为已有记录，本次制作未重跑产品验收。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faeaada9594c0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44e2c5d8ac4b8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55cce61663404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6b52c7d3f648c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9c5296c22541b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9ab3ef2eeb4e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C00E6A-348A-4F0A-A38F-9303C7A936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035D04F-720D-4E0E-8B54-710091C0A26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1B93299-F955-4F93-A66C-412B3A9354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D19A1F-210E-42D0-80B2-463E2C0C9F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81E4470-C5D9-4C58-849E-8C7DECAF9B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A9736C5-647E-4D5F-BD74-C176885081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3FC3A4D-58E2-4128-830A-C1E97EC969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02CD8C4-DB4B-41FD-924A-9F63C36F5D7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DE130B-4674-4740-97D9-4D8A60162D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AF8EA6A-E0C6-460B-A19D-0F3614EF08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2351963f2c4803" /><Relationship Type="http://schemas.openxmlformats.org/officeDocument/2006/relationships/slideLayout" Target="/ppt/slideLayouts/slideLayout1.xml" Id="Rb579412ad6fc49a3" /><Relationship Type="http://schemas.openxmlformats.org/officeDocument/2006/relationships/slideLayout" Target="/ppt/slideLayouts/slideLayout2.xml" Id="R3d6a6ada39fc4872" /><Relationship Type="http://schemas.openxmlformats.org/officeDocument/2006/relationships/slideLayout" Target="/ppt/slideLayouts/slideLayout3.xml" Id="R755be4eed3d943f6" /><Relationship Type="http://schemas.openxmlformats.org/officeDocument/2006/relationships/slideLayout" Target="/ppt/slideLayouts/slideLayout4.xml" Id="Raecb4d32ac47473f" /><Relationship Type="http://schemas.openxmlformats.org/officeDocument/2006/relationships/slideLayout" Target="/ppt/slideLayouts/slideLayout5.xml" Id="R9ac5e887a69c4bd3" /><Relationship Type="http://schemas.openxmlformats.org/officeDocument/2006/relationships/slideLayout" Target="/ppt/slideLayouts/slideLayout6.xml" Id="R87ecc14c9a1145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79412ad6fc49a3"/>
    <p:sldLayoutId xmlns:r="http://schemas.openxmlformats.org/officeDocument/2006/relationships" id="2147483650" r:id="R3d6a6ada39fc4872"/>
    <p:sldLayoutId xmlns:r="http://schemas.openxmlformats.org/officeDocument/2006/relationships" id="2147483651" r:id="R755be4eed3d943f6"/>
    <p:sldLayoutId xmlns:r="http://schemas.openxmlformats.org/officeDocument/2006/relationships" id="2147483652" r:id="Raecb4d32ac47473f"/>
    <p:sldLayoutId xmlns:r="http://schemas.openxmlformats.org/officeDocument/2006/relationships" id="2147483653" r:id="R9ac5e887a69c4bd3"/>
    <p:sldLayoutId xmlns:r="http://schemas.openxmlformats.org/officeDocument/2006/relationships" id="2147483654" r:id="R87ecc14c9a1145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39dc0f10894688" /><Relationship Type="http://schemas.openxmlformats.org/officeDocument/2006/relationships/notesSlide" Target="/ppt/notesSlides/notesSlide1.xml" Id="R5a15cb9f129d44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01c63f64d74e80" /><Relationship Type="http://schemas.openxmlformats.org/officeDocument/2006/relationships/notesSlide" Target="/ppt/notesSlides/notesSlide2.xml" Id="R3e65644234c043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1ac72b3b604ac5" /><Relationship Type="http://schemas.openxmlformats.org/officeDocument/2006/relationships/notesSlide" Target="/ppt/notesSlides/notesSlide3.xml" Id="Rc91d4c0cd7574d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7b51a06fba4664" /><Relationship Type="http://schemas.openxmlformats.org/officeDocument/2006/relationships/notesSlide" Target="/ppt/notesSlides/notesSlide4.xml" Id="R95b9bb39eafb48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24676d56ca41bc" /><Relationship Type="http://schemas.openxmlformats.org/officeDocument/2006/relationships/image" Target="/ppt/media/image.png" Id="R584365c209a943ce" /><Relationship Type="http://schemas.openxmlformats.org/officeDocument/2006/relationships/notesSlide" Target="/ppt/notesSlides/notesSlide5.xml" Id="Rd4288df0f6b84e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21dfc199b541f0" /><Relationship Type="http://schemas.openxmlformats.org/officeDocument/2006/relationships/notesSlide" Target="/ppt/notesSlides/notesSlide6.xml" Id="R43dde5c3daa94e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e1f9b1159e47f5" /><Relationship Type="http://schemas.openxmlformats.org/officeDocument/2006/relationships/image" Target="/ppt/media/image2.png" Id="Rdad44fd98bf24d62" /><Relationship Type="http://schemas.openxmlformats.org/officeDocument/2006/relationships/notesSlide" Target="/ppt/notesSlides/notesSlide7.xml" Id="R9604bfe853604e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2c7ef5ae934c93" /><Relationship Type="http://schemas.openxmlformats.org/officeDocument/2006/relationships/notesSlide" Target="/ppt/notesSlides/notesSlide8.xml" Id="Rdb7a979bfebf41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9b63a1e29c4404" /><Relationship Type="http://schemas.openxmlformats.org/officeDocument/2006/relationships/notesSlide" Target="/ppt/notesSlides/notesSlide9.xml" Id="R90f8aad9e58e4c1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531320fa034101" /><Relationship Type="http://schemas.openxmlformats.org/officeDocument/2006/relationships/notesSlide" Target="/ppt/notesSlides/notesSlide10.xml" Id="R5da4595c3027497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c9270ea3224e86" /><Relationship Type="http://schemas.openxmlformats.org/officeDocument/2006/relationships/notesSlide" Target="/ppt/notesSlides/notesSlide11.xml" Id="R86a37f0597d4438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fe7257370c4368" /><Relationship Type="http://schemas.openxmlformats.org/officeDocument/2006/relationships/notesSlide" Target="/ppt/notesSlides/notesSlide12.xml" Id="Re8c4f7284a0648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E9FA84-D085-4D74-B24D-D2B859F1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5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CB3F71-55C7-4382-B377-2BCBB78B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D5CFED-875A-4D54-B0BD-1DAC2698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5BF743-7B18-4311-83E3-07382FE7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遥感变化检测平台 · 阶段进展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D122EB-B215-4834-A009-5B99695E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7B5A34-AB08-4625-85A9-725D5B31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遥感变化检测平台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86A429-7565-455F-B77F-5D6357D1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14625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65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1765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1765A0"/>
                </a:solidFill>
                <a:latin typeface="Microsoft YaHei"/>
                <a:ea typeface="Microsoft YaHei"/>
                <a:cs typeface="Microsoft YaHei"/>
              </a:rPr>
              <a:t>阶段进展汇报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C15FD0-04FD-4CE6-B6E9-50CD9BBD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8858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9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82240F-BA32-4B7E-A87A-EB170F5C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影像管理  /  检测执行  /  结果分析  /  AI 辅助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4FBCC5-3C06-435A-BBCC-8D55B97F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483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2026 年 10 月 17 日</a:t>
            </a:r>
          </a:p>
        </p:txBody>
      </p:sp>
    </p:spTree>
    <p:extLst>
      <p:ext uri="{BB962C8B-B14F-4D97-AF65-F5344CB8AC3E}">
        <p14:creationId xmlns:p14="http://schemas.microsoft.com/office/powerpoint/2010/main" val="5978183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B0A533-25F5-482C-B8AE-B7FE6EB9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5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40CA7A-3726-4702-9840-F48612C8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阶段进展概览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43A1C1-BB9A-451B-8D56-669EC9DC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已形成平台主要业务链路，下一步重点补齐业务效果与持续运行验证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3A529E-51BC-42D0-B05A-D882AB54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064A95-F084-448A-86C8-106E5823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遥感变化检测平台 · 阶段进展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9D29F4-C888-406F-BE7D-7489BF1A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2909AD-32C7-4663-9309-6BF4DD1D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AF64FB-E70B-4F68-8A8A-8BCB44B3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3832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影像管理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B6AE0B-4310-485E-81FB-593993F0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47925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本地影像索引与月时相组织</a:t>
            </a:r>
          </a:p>
          <a:p xmlns:a="http://schemas.openxmlformats.org/drawingml/2006/main">
            <a: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行政区导航、完整县界选区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9E807E-A5BA-444D-837D-5B7BB00E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0975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45FC2E-8080-43E9-A43C-70862C30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83832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检测执行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36E131-A106-4F47-B935-1ABE628A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447925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选区与时相提交、队列进度</a:t>
            </a:r>
          </a:p>
          <a:p xmlns:a="http://schemas.openxmlformats.org/drawingml/2006/main">
            <a: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模型及参数随批次冻结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B0D3AE-1F26-472B-A3AA-D505165D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9A4999-AD4D-48DD-841D-29F21B4D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8620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结果分析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AE6420-D2CD-47C9-AA0D-FB7AFF8C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前后时相与变化结果联动</a:t>
            </a:r>
          </a:p>
          <a:p xmlns:a="http://schemas.openxmlformats.org/drawingml/2006/main">
            <a: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图斑核查、统计与成果导出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140BA2-992F-4D6E-B925-D804E13E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576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CD8125-4D84-4090-BCAA-AD7F7CAB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88620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AI 辅助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E786F0-759B-49B9-83EC-216EC54B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495800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自然语言调用平台操作</a:t>
            </a:r>
          </a:p>
          <a:p xmlns:a="http://schemas.openxmlformats.org/drawingml/2006/main">
            <a: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复用手动检测提交入口</a:t>
            </a:r>
          </a:p>
        </p:txBody>
      </p:sp>
    </p:spTree>
    <p:extLst>
      <p:ext uri="{BB962C8B-B14F-4D97-AF65-F5344CB8AC3E}">
        <p14:creationId xmlns:p14="http://schemas.microsoft.com/office/powerpoint/2010/main" val="5798524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6B365C-D723-41B4-BE3A-96162DD7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5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A9160F-CDF0-45F9-900D-A6D4A549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建设目标与业务流程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C300ED-CA2A-450A-8A58-936DDDED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把影像、模型和结果组织到同一工作区，支持变化线索发现与人工核查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55726F-E335-4599-89CB-40B770A0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516244-47FA-46D9-BAB7-D924560D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遥感变化检测平台 · 阶段进展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1F7B8D-1E37-47FF-9245-FAE44466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1C41A2-AFD2-492A-86E4-86BA8383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4288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441894-9EFA-4E9B-9D23-23BACE0E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47925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影像接入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980F8A-3FC8-479C-AB3C-64EACF55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409825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6E4570-129B-4149-A8A8-87478C5D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190750"/>
            <a:ext cx="24288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A1087E-94A0-4AD1-AA1E-F6CF92D7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447925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区域与时相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505BA1-994F-4B09-ACB6-1380337D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09825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5E4C5B-64F9-4790-8E14-7C7D5E41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90750"/>
            <a:ext cx="24288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5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DA270A-7E3C-4E92-BAB1-2EA13EBE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47925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变化检测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1F9F4C-3148-4FB1-A4E4-4B77DD3D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09825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A4B701-191A-4592-810C-46D06AF8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190750"/>
            <a:ext cx="24288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35B061-5A82-40D4-9C02-55CEADE1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447925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核查与导出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7FED91-B05A-4979-A421-5EBDD17F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524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登记目录</a:t>
            </a:r>
          </a:p>
          <a:p xmlns:a="http://schemas.openxmlformats.org/drawingml/2006/main">
            <a:pPr>
              <a:defRPr sz="1800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建立月时相索引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B41230-D3F0-4E3D-A42C-27BB35FD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390900"/>
            <a:ext cx="2524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选择行政区或自定义范围</a:t>
            </a:r>
          </a:p>
          <a:p xmlns:a="http://schemas.openxmlformats.org/drawingml/2006/main">
            <a:pPr>
              <a:defRPr sz="1800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明确比较时相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CDE2F3-3C9A-4144-A5AD-266D79FF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90900"/>
            <a:ext cx="2524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模型推理与后处理</a:t>
            </a:r>
          </a:p>
          <a:p xmlns:a="http://schemas.openxmlformats.org/drawingml/2006/main">
            <a:pPr>
              <a:defRPr sz="1800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查看任务状态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C192D4-2864-4506-A72A-50843093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390900"/>
            <a:ext cx="2524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联动查看变化图斑</a:t>
            </a:r>
          </a:p>
          <a:p xmlns:a="http://schemas.openxmlformats.org/drawingml/2006/main">
            <a:pPr>
              <a:defRPr sz="1800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导出空间与统计成果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BF674F-9C1C-4861-9956-3CC0E3C3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5B0D1A-A55A-4910-B830-4547CAFE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6732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业务定位：辅助发现变化线索，为人工核查提供空间位置与结果依据</a:t>
            </a:r>
          </a:p>
        </p:txBody>
      </p:sp>
    </p:spTree>
    <p:extLst>
      <p:ext uri="{BB962C8B-B14F-4D97-AF65-F5344CB8AC3E}">
        <p14:creationId xmlns:p14="http://schemas.microsoft.com/office/powerpoint/2010/main" val="11636082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5FFEB7-BDBF-416B-809D-B4F31EFF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5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1C06A2-A270-4E2C-A0A4-A280E9E5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平台整体架构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DD22AA-2C38-420B-A8FE-D8121ED5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前端交互、任务管理、影像处理与 GPU 推理分工明确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689530-6B29-43E7-B24B-A375BD1F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EDA3E0-F6FB-42BB-909A-12A48013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遥感变化检测平台 · 阶段进展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1204F0-33E0-423E-B9C3-53A84CBD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DB45C9-616A-4618-AEFB-120849AD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10953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4837FF-5995-47FC-A8C7-1D8A1175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047875"/>
            <a:ext cx="1428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交互层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2FACA6-E3D9-4B36-9314-D37CF74E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085975"/>
            <a:ext cx="704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概览  ·  对比  ·  报告  ·  管理  ·  AI 助手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CAA033-0E7C-4E0F-A727-D84D640D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143125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Vue / TypeScript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F1E90C-02E0-4A9D-98BA-889F386A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00375"/>
            <a:ext cx="10953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5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EBB9EF-30C3-4B87-92EF-CF8E98F0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38500"/>
            <a:ext cx="1428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0595ED-3238-42A3-A201-F4DBB04D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276600"/>
            <a:ext cx="704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配置版本  ·  任务队列  ·  状态与结果记录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887A21-4F3B-4968-AF5D-D51C1EC1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333750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D4E4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D4E4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4E4F1"/>
                </a:solidFill>
                <a:latin typeface="Microsoft YaHei"/>
                <a:ea typeface="Microsoft YaHei"/>
                <a:cs typeface="Microsoft YaHei"/>
              </a:rPr>
              <a:t>Go / SQLite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EFC954-D64A-4184-8594-E36E6E1B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0"/>
            <a:ext cx="10953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E3E14B-8F0C-498D-82A9-349F8FDE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429125"/>
            <a:ext cx="1428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计算层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BCCBC8-E232-4DD8-BFA6-D51C5AAE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67225"/>
            <a:ext cx="704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影像索引、裁切与后处理  →  ONNX GPU 推理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6C4570-7167-4F8C-8BD7-5C967280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4524375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Python / CUDA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28984D-6233-416F-8E49-E4CF1818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数据边界：原始影像与模型保留，裁切、任务快照和结果单独管理</a:t>
            </a:r>
          </a:p>
        </p:txBody>
      </p:sp>
    </p:spTree>
    <p:extLst>
      <p:ext uri="{BB962C8B-B14F-4D97-AF65-F5344CB8AC3E}">
        <p14:creationId xmlns:p14="http://schemas.microsoft.com/office/powerpoint/2010/main" val="16978567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A944BD-99ED-453D-83F4-6EF4CFF7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5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B697ED-1A4A-4481-89B8-412072EB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影像与行政区管理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EB5E13-8D13-4EE6-AD42-4C18A158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已将影像来源入口与行政区层级分开组织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F69D1-95B1-429A-AF07-D8EEEA47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B5A969-5134-4A7D-8014-D5BBEF44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遥感变化检测平台 · 阶段进展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2CA098-7CEC-46D1-A30E-84644D57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9C696-36E9-4C4B-A931-D482571C35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4365c209a943ce"/>
          <a:stretch xmlns:a="http://schemas.openxmlformats.org/drawingml/2006/main"/>
        </p:blipFill>
        <p:spPr>
          <a:xfrm xmlns:a="http://schemas.openxmlformats.org/drawingml/2006/main">
            <a:off x="971550" y="1695450"/>
            <a:ext cx="6172200" cy="4286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C6E93D-CD4C-43AB-9021-196F3D75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14 个影像来源入口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BFA0DC-D94B-4D08-9532-B5A3966D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05075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rPr>
              <a:t>行政区知识库</a:t>
            </a:r>
          </a:p>
          <a:p xmlns:a="http://schemas.openxmlformats.org/drawingml/2006/main">
            <a:pPr>
              <a:defRPr sz="2175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rPr>
              <a:t>11 市 · 167 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9E132C-3033-43D4-9E46-51ACEE21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38550"/>
            <a:ext cx="3714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按月组织可用时相</a:t>
            </a:r>
          </a:p>
          <a:p xmlns:a="http://schemas.openxmlformats.org/drawingml/2006/main">
            <a: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显式选择完整县界</a:t>
            </a:r>
          </a:p>
          <a:p xmlns:a="http://schemas.openxmlformats.org/drawingml/2006/main">
            <a: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保留多部件与孔洞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000FCE-2CC0-4ACD-8215-A5A7A396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3911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A46B1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46B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46B15"/>
                </a:solidFill>
                <a:latin typeface="Microsoft YaHei"/>
                <a:ea typeface="Microsoft YaHei"/>
                <a:cs typeface="Microsoft YaHei"/>
              </a:rPr>
              <a:t>入口数量 ≠ 完整影像覆盖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EE99E-29FE-45F0-866F-984C85CE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29325"/>
            <a:ext cx="704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功能演示：真实边界 + 模拟影像与任务</a:t>
            </a:r>
          </a:p>
        </p:txBody>
      </p:sp>
    </p:spTree>
    <p:extLst>
      <p:ext uri="{BB962C8B-B14F-4D97-AF65-F5344CB8AC3E}">
        <p14:creationId xmlns:p14="http://schemas.microsoft.com/office/powerpoint/2010/main" val="16979209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46BD06-5C31-43A1-95A5-0E5086B1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5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C0301C-ECCD-4D96-8ABA-9C430EC7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检测任务流程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DCF7F0-AC2D-49F4-91D3-67AF6875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选区、时相、模型与参数共同决定一次检测任务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BFE423-00B3-4E72-A9A3-A5E81F62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E64154-1183-4F28-93F9-0ED7FE2B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遥感变化检测平台 · 阶段进展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A39B2-0CA3-409C-B36D-B5053ECF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048318-9295-449C-A471-C8329821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50E3FA-E750-4C7B-A84F-8FE398CC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714500"/>
            <a:ext cx="9877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确定检测条件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5A6DC2-6C0C-40C9-A405-75B5AF6C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171700"/>
            <a:ext cx="9877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选择矩形、多边形或完整县界；确认比较时相与模型参数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333E3B-BE8F-4453-B811-1B5907D5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B4A163-AA62-488A-B48F-30617E80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143250"/>
            <a:ext cx="9877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提交并跟踪任务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7F7D68-B995-49AE-B6EB-6B41F19A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600450"/>
            <a:ext cx="9877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裁切准备与检测进度分阶段展示；多时相按相邻组推进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3D203A-2771-40F9-B249-2D2C1E8E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29061B-5B2D-42AA-A0BC-706B6346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572000"/>
            <a:ext cx="9877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保留运行依据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5DC0D3-3446-41F3-BA00-833548D4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029200"/>
            <a:ext cx="9877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冻结模型、配置版本和参数，使同批次任务使用一致条件</a:t>
            </a:r>
          </a:p>
        </p:txBody>
      </p:sp>
    </p:spTree>
    <p:extLst>
      <p:ext uri="{BB962C8B-B14F-4D97-AF65-F5344CB8AC3E}">
        <p14:creationId xmlns:p14="http://schemas.microsoft.com/office/powerpoint/2010/main" val="20162247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1CDA68-E219-47DD-AEFE-CFE0E71D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5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C1649A-C998-4525-853E-45E97576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结果展示与应用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A28881-B363-407B-804D-F53BEC1B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联动对比与图斑统计支持定位变化、逐项核查和成果交付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C36732-26B5-4655-9D9A-92F585CF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77D33D-66DC-492F-BADB-2CC6424F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遥感变化检测平台 · 阶段进展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DBA1D-FA49-45E9-AF07-672E6F8C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0708F9-E5F7-49B7-8D35-99E5D7D5B9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d44fd98bf24d62"/>
          <a:stretch xmlns:a="http://schemas.openxmlformats.org/drawingml/2006/main"/>
        </p:blipFill>
        <p:spPr>
          <a:xfrm xmlns:a="http://schemas.openxmlformats.org/drawingml/2006/main">
            <a:off x="609600" y="1714500"/>
            <a:ext cx="7620000" cy="4286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751752-E4AD-4893-865F-D7F971AB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三图联动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28D013-32D7-4016-ADA3-1D85811A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574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前时相 / 后时相 / 变化结果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9D6362-E9BF-4E66-829F-61D8DDEC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290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图斑与统计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00AFAC-67D0-413C-914A-E49766B6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TIFF · GeoJSON</a:t>
            </a:r>
          </a:p>
          <a:p xmlns:a="http://schemas.openxmlformats.org/drawingml/2006/main">
            <a:pPr>
              <a:defRPr sz="1800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CSV · Shapefile ZIP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187F3E-2EE5-47CF-AF7E-87C7E726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29325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46B1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46B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6B15"/>
                </a:solidFill>
                <a:latin typeface="Microsoft YaHei"/>
                <a:ea typeface="Microsoft YaHei"/>
                <a:cs typeface="Microsoft YaHei"/>
              </a:rPr>
              <a:t>功能演示：测试数据，不代表真实检测效果；置信度不等于准确率</a:t>
            </a:r>
          </a:p>
        </p:txBody>
      </p:sp>
    </p:spTree>
    <p:extLst>
      <p:ext uri="{BB962C8B-B14F-4D97-AF65-F5344CB8AC3E}">
        <p14:creationId xmlns:p14="http://schemas.microsoft.com/office/powerpoint/2010/main" val="4794754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19C529-3461-4666-8FE1-FC8AC577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5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79ECC-71EE-49A8-813D-FC27F6F1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AI 助手近期进展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A0CE3F-D307-4570-B55A-53666A69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自然语言操作复用平台业务入口，避免绕过现有检测校验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E0C63B-79F7-47ED-8888-483A2BF9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97283B-6639-4AF7-8456-A05EAA07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遥感变化检测平台 · 阶段进展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5C4E13-A764-4D42-9D0D-70B40710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A6F7F-09A0-4FFD-8560-BF234E53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DF2625-0F0E-4EA3-8B4E-267A384F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“沿用当前选区，对比 2025 年 1 月与 5 月并提交检测。”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BE8F2F-9C99-4CD8-9BCA-04379F3D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838450"/>
            <a:ext cx="10668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指令示例，非本次真实云端对话记录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4B47BA-0B4C-4CC9-AB0D-179ADA6D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0633A9-84CF-446B-8464-078F9CB2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识别区域与时相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C8D534-83ED-4381-8C1E-700A1FE1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609975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173348-E7D6-4EDD-8100-DDBF65E6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7187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B514A9-5E1F-407A-805C-0A819C78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38625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核对工作区状态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4ADE6D-7953-49E9-9D30-A6E72007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09975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102B35-E18F-46F4-A324-B64F75B0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7187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9FE722-92C4-4F5C-AE1A-7E68D1FA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38625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调用统一提交入口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FC9DF4-489C-473B-91E1-4066DABC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沿用已有选区与未覆盖参数；资源冲突、状态过期或信息不足时给出明确反馈</a:t>
            </a:r>
          </a:p>
        </p:txBody>
      </p:sp>
    </p:spTree>
    <p:extLst>
      <p:ext uri="{BB962C8B-B14F-4D97-AF65-F5344CB8AC3E}">
        <p14:creationId xmlns:p14="http://schemas.microsoft.com/office/powerpoint/2010/main" val="4164917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25EA85-C569-402A-B4A5-2521B6F2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5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1F5A77-15C2-45D4-83FB-B3219096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稳定性与验证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0C5CA2-E90B-4795-99DE-94833385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功能验证已有证据，真实业务效果与完整运行验收仍需补齐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3AC47E-C5D0-4D24-A9AB-53387971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E1E861-159D-48DA-87E4-9A670BB9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遥感变化检测平台 · 阶段进展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37E4CE-DF2F-4FEA-9B5B-D90CFA25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86C909-C265-429A-984E-23965F99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45ED3F-EA9A-45A0-90AD-F89F3FBC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762125"/>
            <a:ext cx="9877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已有局部验证｜真实服务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FE3880-9BBF-4A22-873F-1EFC1079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219325"/>
            <a:ext cx="9877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行政区入库与查询、代码和版本一致性已记录；未运行真实整县推理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606311-9AFA-42FE-BC60-3B3F32E5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3B4D64-34A2-435F-90B3-FDE7D7AB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190875"/>
            <a:ext cx="9877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已有功能验证｜确定性夹具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E12744-9650-4A60-AA34-88A94AC5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648075"/>
            <a:ext cx="9877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县界操作、时相选择、重复提交拦截、异常反馈和结果界面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FDFD6D-5745-4639-8ECB-9E7B63B3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E5645A-5BFB-462F-B535-98CAC8A5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619625"/>
            <a:ext cx="9877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仍需复核｜真实运行与效果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01B060-4185-4508-83C6-C4B81727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076825"/>
            <a:ext cx="9877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历史 CUDA 记录本轮未独立核实；云端 AI、业务精度和长时负载待验证</a:t>
            </a:r>
          </a:p>
        </p:txBody>
      </p:sp>
    </p:spTree>
    <p:extLst>
      <p:ext uri="{BB962C8B-B14F-4D97-AF65-F5344CB8AC3E}">
        <p14:creationId xmlns:p14="http://schemas.microsoft.com/office/powerpoint/2010/main" val="20102709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3E6926-AC14-464F-85AC-5E014D54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5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C16137-CB37-4A66-9F0A-50CB66E7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当前不足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05EA37-C2D0-4D2F-85D1-FE9981BE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下一阶段的重点是证明“结果可用”和“运行可靠”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1AC4B9-4BFA-46AE-A48A-05B9E524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F2EC17-4DFF-46B2-BA16-47697F08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遥感变化检测平台 · 阶段进展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367AD7-D4FC-40C4-B050-4132AEBF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2237F-B71F-44BB-8F85-8DD2776F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业务精度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4BB195-9B15-4DC8-B5AB-180382B6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00225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缺少代表性标注评估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10C86A-4767-4553-8EE9-505A225E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8002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明确漏检、误检与适用范围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3AF029-DB72-4323-9362-B3CBD129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A6C0AC-B37F-4C5D-83F4-1215FD79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大范围运行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067F36-0F3F-4889-B27C-81313E88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09875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整幅处理存在资源压力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A1FC91-E5F4-43F7-B342-6CA1DEDE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80987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测量时间、内存与显存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BCFC30-ED4A-48AF-A493-E54085E9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5750DC-489C-476C-BBD8-651F530D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任务恢复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7E39FD-19E5-4369-8B7D-F5D9E573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819525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刷新与重启恢复不完整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FC0E7B-A8A5-44AE-BDA3-0A9AD2BC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8195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验证批次恢复和状态一致性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0FE610-C26C-4562-BE27-8AACEF30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AC5F4E-402B-4BD9-AAB2-79F492F2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965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真实 AI 调用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2ED014-1328-49E9-ABF0-1337C41B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29175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现有回归以夹具为主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14E842-824C-4F2B-B1F7-46697358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82917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验证理解、执行与错误恢复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531D8D-E44A-435A-A690-2F410AF4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1234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114F00-BD68-4337-81B2-7EBEC44C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5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FC068C-7FF6-4AFE-BF08-A7BD0C98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下一阶段工作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13E3E7-D2E5-4EF6-9A49-A11D57DB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建议优先级：真实案例与精度评估 → 持续运行 → AI 能力演进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C2E043-03FA-4D82-BA1A-2F1435E2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EF08A7-9AA7-47C6-8B4C-5DC715D5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遥感变化检测平台 · 阶段进展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96A3D1-D72F-47D2-A712-FE9B4D60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93ACD0-C933-44FF-BD17-AF8CCBBB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21D7BA-8EBD-40BF-BB5B-A7A88F7F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762125"/>
            <a:ext cx="9877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先建立可信案例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A7D97B-5795-481A-AC05-99FD03B2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219325"/>
            <a:ext cx="9877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确定试点区域与标注；记录检测条件、核查结果及误检漏检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1402EC-23AF-44F1-80D9-3370E966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4B66B4-411D-4CC0-A247-D6E7825E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190875"/>
            <a:ext cx="9877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再验证持续运行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2320FD-6708-4CDB-BA06-775D8848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648075"/>
            <a:ext cx="9877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测试较大范围、长时间运行、断连与重启；据瓶颈安排改进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73C108-7FCA-4DB0-91BB-C6099061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FB7777-A489-43B1-80DC-675C3DBD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619625"/>
            <a:ext cx="9877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分阶段推进 AI｜规划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664A08-8F40-4435-BEC8-3F3746B2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076825"/>
            <a:ext cx="9877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先验真实调用，再推进持续工作流与有界自主探索</a:t>
            </a:r>
          </a:p>
        </p:txBody>
      </p:sp>
    </p:spTree>
    <p:extLst>
      <p:ext uri="{BB962C8B-B14F-4D97-AF65-F5344CB8AC3E}">
        <p14:creationId xmlns:p14="http://schemas.microsoft.com/office/powerpoint/2010/main" val="20362048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1ED1F0-826F-431D-B424-A8EC867A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5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95AADE-7577-41B4-8F94-D6C08F9F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总结与讨论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3DF367-FE5A-4F76-97AD-0E29F834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平台主要能力已形成，下一步以真实案例和验收口径收敛工作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5A40B-EB2F-468D-8375-A6B509AA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18AE1C-87B2-4368-B9C9-E833DF01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遥感变化检测平台 · 阶段进展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B2683C-7028-45E8-B60D-4984D5F1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EB302F-F922-4025-AA19-6BA8CA2A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rPr>
              <a:t>已形成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C80914-3E53-49A6-8951-171DB537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09750"/>
            <a:ext cx="857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影像组织、检测提交、结果核查与导出</a:t>
            </a:r>
          </a:p>
          <a:p xmlns:a="http://schemas.openxmlformats.org/drawingml/2006/main">
            <a:pPr>
              <a:defRPr sz="23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行政区完整选区与 AI 受控操作能力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1C1A2D-429E-4965-8ABC-C6883A05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289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E74A88-552F-431A-A665-E5FDE398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rPr>
              <a:t>建议讨论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8013D6-4185-44A4-B038-983033BB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09975"/>
            <a:ext cx="8477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试点区域与对比时相</a:t>
            </a:r>
          </a:p>
          <a:p xmlns:a="http://schemas.openxmlformats.org/drawingml/2006/main">
            <a:pPr>
              <a:defRPr sz="2250" b="0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参考标注及人工核查方式</a:t>
            </a:r>
          </a:p>
          <a:p xmlns:a="http://schemas.openxmlformats.org/drawingml/2006/main">
            <a:pPr>
              <a:defRPr sz="2250" b="0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精度、运行规模与恢复能力的验收口径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74612B-1237-4220-8D5E-07593F6F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0547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先用代表性案例验证可用性，再确定扩大应用与能力演进节奏</a:t>
            </a:r>
          </a:p>
        </p:txBody>
      </p:sp>
    </p:spTree>
    <p:extLst>
      <p:ext uri="{BB962C8B-B14F-4D97-AF65-F5344CB8AC3E}">
        <p14:creationId xmlns:p14="http://schemas.microsoft.com/office/powerpoint/2010/main" val="21376847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2026-10-17T07:31:42.4020000Z</dcterms:created>
  <dcterms:modified xsi:type="dcterms:W3CDTF">2026-10-17T07:31:42.4020000Z</dcterms:modified>
</coreProperties>
</file>