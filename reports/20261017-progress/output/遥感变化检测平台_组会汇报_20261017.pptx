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c45af3c24f40bc" /><Relationship Type="http://schemas.openxmlformats.org/officeDocument/2006/relationships/extended-properties" Target="/docProps/app.xml" Id="R1a293a1e47074576" /><Relationship Type="http://schemas.openxmlformats.org/officeDocument/2006/relationships/officeDocument" Target="/ppt/presentation.xml" Id="Rc8108b47a1de4c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e0ad4f8ff6463e"/>
  </p:sldMasterIdLst>
  <p:notesMasterIdLst>
    <p:notesMasterId xmlns:r="http://schemas.openxmlformats.org/officeDocument/2006/relationships" r:id="Rca84d3f3f7b6452e"/>
  </p:notesMasterIdLst>
  <p:sldIdLst>
    <p:sldId xmlns:r="http://schemas.openxmlformats.org/officeDocument/2006/relationships" id="256" r:id="R3d16835c8c4b4e3b"/>
    <p:sldId xmlns:r="http://schemas.openxmlformats.org/officeDocument/2006/relationships" id="257" r:id="R26994922e59a44f7"/>
    <p:sldId xmlns:r="http://schemas.openxmlformats.org/officeDocument/2006/relationships" id="258" r:id="R7ed4c22b8eda4846"/>
    <p:sldId xmlns:r="http://schemas.openxmlformats.org/officeDocument/2006/relationships" id="259" r:id="Ra3c887d6d41647ea"/>
    <p:sldId xmlns:r="http://schemas.openxmlformats.org/officeDocument/2006/relationships" id="260" r:id="R014c634c08444fc6"/>
    <p:sldId xmlns:r="http://schemas.openxmlformats.org/officeDocument/2006/relationships" id="261" r:id="R1e96b26ba4ff44f4"/>
    <p:sldId xmlns:r="http://schemas.openxmlformats.org/officeDocument/2006/relationships" id="262" r:id="R21ff60f6ec14452e"/>
    <p:sldId xmlns:r="http://schemas.openxmlformats.org/officeDocument/2006/relationships" id="263" r:id="Rebae3dc6e0ea49cf"/>
    <p:sldId xmlns:r="http://schemas.openxmlformats.org/officeDocument/2006/relationships" id="264" r:id="Rf85503cc0b734adf"/>
    <p:sldId xmlns:r="http://schemas.openxmlformats.org/officeDocument/2006/relationships" id="265" r:id="R10c4475d9a72422c"/>
    <p:sldId xmlns:r="http://schemas.openxmlformats.org/officeDocument/2006/relationships" id="266" r:id="Rc448c8abc4144733"/>
    <p:sldId xmlns:r="http://schemas.openxmlformats.org/officeDocument/2006/relationships" id="267" r:id="R22329d59bb4d48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7385c9a18d4e30" /><Relationship Type="http://schemas.openxmlformats.org/officeDocument/2006/relationships/slideMaster" Target="/ppt/slideMasters/slideMaster1.xml" Id="R8fe0ad4f8ff6463e" /><Relationship Type="http://schemas.openxmlformats.org/officeDocument/2006/relationships/notesMaster" Target="/ppt/notesMasters/notesMaster1.xml" Id="Rca84d3f3f7b6452e" /><Relationship Type="http://schemas.openxmlformats.org/officeDocument/2006/relationships/presProps" Target="/ppt/presProps.xml" Id="R2e0e6bd65b2f4d9f" /><Relationship Type="http://schemas.openxmlformats.org/officeDocument/2006/relationships/tableStyles" Target="/ppt/tableStyles.xml" Id="Rd0e32feccf03472d" /><Relationship Type="http://schemas.openxmlformats.org/officeDocument/2006/relationships/slide" Target="/ppt/slides/slide1.xml" Id="R3d16835c8c4b4e3b" /><Relationship Type="http://schemas.openxmlformats.org/officeDocument/2006/relationships/slide" Target="/ppt/slides/slide2.xml" Id="R26994922e59a44f7" /><Relationship Type="http://schemas.openxmlformats.org/officeDocument/2006/relationships/slide" Target="/ppt/slides/slide3.xml" Id="R7ed4c22b8eda4846" /><Relationship Type="http://schemas.openxmlformats.org/officeDocument/2006/relationships/slide" Target="/ppt/slides/slide4.xml" Id="Ra3c887d6d41647ea" /><Relationship Type="http://schemas.openxmlformats.org/officeDocument/2006/relationships/slide" Target="/ppt/slides/slide5.xml" Id="R014c634c08444fc6" /><Relationship Type="http://schemas.openxmlformats.org/officeDocument/2006/relationships/slide" Target="/ppt/slides/slide6.xml" Id="R1e96b26ba4ff44f4" /><Relationship Type="http://schemas.openxmlformats.org/officeDocument/2006/relationships/slide" Target="/ppt/slides/slide7.xml" Id="R21ff60f6ec14452e" /><Relationship Type="http://schemas.openxmlformats.org/officeDocument/2006/relationships/slide" Target="/ppt/slides/slide8.xml" Id="Rebae3dc6e0ea49cf" /><Relationship Type="http://schemas.openxmlformats.org/officeDocument/2006/relationships/slide" Target="/ppt/slides/slide9.xml" Id="Rf85503cc0b734adf" /><Relationship Type="http://schemas.openxmlformats.org/officeDocument/2006/relationships/slide" Target="/ppt/slides/slide10.xml" Id="R10c4475d9a72422c" /><Relationship Type="http://schemas.openxmlformats.org/officeDocument/2006/relationships/slide" Target="/ppt/slides/slide11.xml" Id="Rc448c8abc4144733" /><Relationship Type="http://schemas.openxmlformats.org/officeDocument/2006/relationships/slide" Target="/ppt/slides/slide12.xml" Id="R22329d59bb4d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c21ca39ef44e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fc61c034a64806" /><Relationship Type="http://schemas.openxmlformats.org/officeDocument/2006/relationships/notesMaster" Target="/ppt/notesMasters/notesMaster1.xml" Id="R1206b16593d44f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71086e49a44aed" /><Relationship Type="http://schemas.openxmlformats.org/officeDocument/2006/relationships/notesMaster" Target="/ppt/notesMasters/notesMaster1.xml" Id="R4b52bac5d4534d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d0d50d26fe4cef" /><Relationship Type="http://schemas.openxmlformats.org/officeDocument/2006/relationships/notesMaster" Target="/ppt/notesMasters/notesMaster1.xml" Id="Rc0be09de03674e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d70de3ab2e45df" /><Relationship Type="http://schemas.openxmlformats.org/officeDocument/2006/relationships/notesMaster" Target="/ppt/notesMasters/notesMaster1.xml" Id="R7933b63f929e44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f1f519b2364c02" /><Relationship Type="http://schemas.openxmlformats.org/officeDocument/2006/relationships/notesMaster" Target="/ppt/notesMasters/notesMaster1.xml" Id="Rca5e1973b85e43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b433a8ac6a4abc" /><Relationship Type="http://schemas.openxmlformats.org/officeDocument/2006/relationships/notesMaster" Target="/ppt/notesMasters/notesMaster1.xml" Id="R77d2e252b4574c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f88d15c3274675" /><Relationship Type="http://schemas.openxmlformats.org/officeDocument/2006/relationships/notesMaster" Target="/ppt/notesMasters/notesMaster1.xml" Id="Rc6436eedd22a40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b98ae6fad64ff4" /><Relationship Type="http://schemas.openxmlformats.org/officeDocument/2006/relationships/notesMaster" Target="/ppt/notesMasters/notesMaster1.xml" Id="R36447193829042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9b658998f34aaf" /><Relationship Type="http://schemas.openxmlformats.org/officeDocument/2006/relationships/notesMaster" Target="/ppt/notesMasters/notesMaster1.xml" Id="Rc5792494cc9f43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2ad16744a04f86" /><Relationship Type="http://schemas.openxmlformats.org/officeDocument/2006/relationships/notesMaster" Target="/ppt/notesMasters/notesMaster1.xml" Id="Rb08d8a57e03c4f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5904be51904482" /><Relationship Type="http://schemas.openxmlformats.org/officeDocument/2006/relationships/notesMaster" Target="/ppt/notesMasters/notesMaster1.xml" Id="R3ff7f47756004e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21b36f23c14389" /><Relationship Type="http://schemas.openxmlformats.org/officeDocument/2006/relationships/notesMaster" Target="/ppt/notesMasters/notesMaster1.xml" Id="R3b5fdbc5e9fc4b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30 秒。介绍平台面向河北区域的本地遥感影像变化检测，本次汇报覆盖截至当前的阶段成果。以当前工作区为准，含尚未提交的行政区改进；不能等同于已发布版本。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证据（项目根目录相对路径）：README.md；docs/CURRENT_STATUS.md；docs/administrative-boundaries.md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秒。按四类成果说明阶段进展，不使用完成百分比。已有软件能力不等于业务精度已验收，AI 仍以受控工具调用为边界。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证据（项目根目录相对路径）：README.md；docs/CURRENT_STATUS.md；docs/ai-assistant-review.md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秒。按流程讲业务用途。平台产出变化候选，仍需人员结合标注或业务资料核查。月时相由同月有效影像组织；来源覆盖必须结合实际目录判断。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证据（项目根目录相对路径）：README.md；docs/CURRENT_STATUS.md；frontend/src/composables/useWorkspace.ts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秒。强调分工与可追溯性，不逐项讲技术栈细节。平台检测使用 CUDA ONNX，独立 CLI 的 CPU 能力不作为产品能力。源影像和模型只读，派生结果单独保存。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证据（项目根目录相对路径）：README.md；docs/CURRENT_STATUS.md；backend-go/internal/api/images.go；frontend/src/composables/useWorkspace.ts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75 秒。14 个数指来源入口，不代表全省影像全覆盖。行政知识库包含 1 省、11 市、167 县。完整县界保留部件和孔洞，服务端校验代码、来源及版本。截图为真实边界配合模拟影像任务接口，仅展示操作能力，未完成真实整县推理。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证据（项目根目录相对路径）：docs/administrative-boundaries.md；data/validation/administrative-source-14/report.json；data/validation/administrative-boundaries/validation-report.md；frontend/src/composables/useWorkspace.ts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 秒。自定义选区为矩形及单环多边形；可信县界是独立完整几何路径。多时相默认相邻组顺序提交，AI 明确两个日期时仅选对应两期。切页可继续，刷新会丢失尚未提交组的前端编排。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证据（项目根目录相对路径）：frontend/src/composables/useWorkspace.ts；docs/CURRENT_STATUS.md；docs/ai-assistant-review.md；docs/administrative-boundaries.md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75 秒。截图来自确定性浏览器夹具，图像、面积、图斑数和置信度均不作为实测业务成果。当前功能支持三图联动、热点和图斑检查。置信度分布用于查看模型得分，不等于准确率。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证据（项目根目录相对路径）：data/validation/workspace-ui/report.json；docs/CURRENT_STATUS.md；frontend/src/views/Comparison.vue；frontend/src/views/Reports.vue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80 秒。示例是表达方式示意，不是本次真实云模型对话记录。关键改进是完整目录可查询、明确两期不扩大为日期区间、矩形 AOI 可提交、版本变化和重复提交受控。测试采用模型和 HTTP 夹具，不能宣称真实语义识别成功率或效率提升。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证据（项目根目录相对路径）：docs/ai-assistant-review.md；data/validation/ai-browser/report.json；frontend/src/composables/useWorkspace.ts；backend-go/internal/api/ai_domain_services.go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80 秒。行政区 live-api-report 与 validation-report 支持真实服务入库和查询；浏览器报告是模拟影像与任务。AI 回归使用确定性夹具。历史文档提及 CUDA 推理与导出通过，但 management 报告缺失，polygon/progress 目录读取被拒绝，因此本次未独立核实，不能作为当前版本全面验收结论。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ata/validation/administrative-boundaries/live-api-report.json；data/validation/administrative-boundaries/validation-report.md；data/validation/administrative-source-14/report.json；data/validation/ai-browser/report.json；data/validation/workspace-ui/report.json；docs/CURRENT_STATUS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75 秒。精度与稳定性是两个独立维度。不要将运行通过当成精度可靠，也不要用一次演示替代大范围长时验证。刷新/关闭会丢失未提交组编排，Go 重启会将未完成任务标为中断失败。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证据（项目根目录相对路径）：docs/CURRENT_STATUS.md；docs/ROADMAP.md；docs/ai-assistant-capability-todo.md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75 秒。此页为建议优先级，不是已承诺排期。第一步先锁定试点区域、时相和参考标注，再建立可重复案例及精度指标；第二步测大范围运行与恢复；第三步在约束范围内评估 AI 真实调用并推进持续工作流、自主探索。后两者仍为规划。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证据（项目根目录相对路径）：docs/ROADMAP.md；docs/ai-assistant-capability-todo.md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秒。总结当前已实现的主要流程及近期行政区、AI 进展。请领导讨论试点范围、标注条件与验收目标；这些是本次建议，不是已知阻塞或已确认资源需求。不要承诺未经讨论的日期。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证据（项目根目录相对路径）：README.md；docs/CURRENT_STATUS.md；docs/ROADMAP.md；docs/ai-assistant-capability-todo.md</a:t>
            </a:r>
          </a:p>
          <a:p xmlns:a="http://schemas.openxmlformats.org/drawingml/2006/main">
            <a:r>
              <a:t>核对日期：2026-10-17。报告为已有记录，本次制作未重跑产品验收。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440306c8645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85a83d4e247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d3aaac9544e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e3766d91249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be6debc7444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3023e15b44b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62C60A-F677-4C14-88E1-34DC9FCCF7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CF3048-8644-49EE-A05B-3A1D7FD6A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D32F93-3504-4BFF-AAFD-C37788C69A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656AF8-22A0-41B9-AFAD-3AC40AAC34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F3F056-D64C-40C1-9E4E-0F7B41DB90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1621C9-D0C5-45BD-BB65-EAFFF8CC03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3064A1-4AD3-4CE9-B3B6-4A98CD618E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951351-72E5-4024-97BE-4769DF2EBB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C52A4E-2A79-4A66-85A3-B2AD6A38AC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C86D52-A738-45D1-B1E2-1C96772D0B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fbf7121968447a" /><Relationship Type="http://schemas.openxmlformats.org/officeDocument/2006/relationships/slideLayout" Target="/ppt/slideLayouts/slideLayout1.xml" Id="R6f9b98d0cc2444ce" /><Relationship Type="http://schemas.openxmlformats.org/officeDocument/2006/relationships/slideLayout" Target="/ppt/slideLayouts/slideLayout2.xml" Id="R131ce4022d8e450b" /><Relationship Type="http://schemas.openxmlformats.org/officeDocument/2006/relationships/slideLayout" Target="/ppt/slideLayouts/slideLayout3.xml" Id="R3f7142eae493480c" /><Relationship Type="http://schemas.openxmlformats.org/officeDocument/2006/relationships/slideLayout" Target="/ppt/slideLayouts/slideLayout4.xml" Id="Rf9b25e3ad9da4cdd" /><Relationship Type="http://schemas.openxmlformats.org/officeDocument/2006/relationships/slideLayout" Target="/ppt/slideLayouts/slideLayout5.xml" Id="R2d6e42cc00c74e50" /><Relationship Type="http://schemas.openxmlformats.org/officeDocument/2006/relationships/slideLayout" Target="/ppt/slideLayouts/slideLayout6.xml" Id="R78a38ceac34d45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9b98d0cc2444ce"/>
    <p:sldLayoutId xmlns:r="http://schemas.openxmlformats.org/officeDocument/2006/relationships" id="2147483650" r:id="R131ce4022d8e450b"/>
    <p:sldLayoutId xmlns:r="http://schemas.openxmlformats.org/officeDocument/2006/relationships" id="2147483651" r:id="R3f7142eae493480c"/>
    <p:sldLayoutId xmlns:r="http://schemas.openxmlformats.org/officeDocument/2006/relationships" id="2147483652" r:id="Rf9b25e3ad9da4cdd"/>
    <p:sldLayoutId xmlns:r="http://schemas.openxmlformats.org/officeDocument/2006/relationships" id="2147483653" r:id="R2d6e42cc00c74e50"/>
    <p:sldLayoutId xmlns:r="http://schemas.openxmlformats.org/officeDocument/2006/relationships" id="2147483654" r:id="R78a38ceac34d45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8fed9debd7426b" /><Relationship Type="http://schemas.openxmlformats.org/officeDocument/2006/relationships/notesSlide" Target="/ppt/notesSlides/notesSlide1.xml" Id="R5275257059c143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26ab29f574638" /><Relationship Type="http://schemas.openxmlformats.org/officeDocument/2006/relationships/notesSlide" Target="/ppt/notesSlides/notesSlide2.xml" Id="Rae0afa18233f4c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be1b8ed0748cb" /><Relationship Type="http://schemas.openxmlformats.org/officeDocument/2006/relationships/notesSlide" Target="/ppt/notesSlides/notesSlide3.xml" Id="Rd7f6abfc3aec42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7a87e9c0e4c9b" /><Relationship Type="http://schemas.openxmlformats.org/officeDocument/2006/relationships/notesSlide" Target="/ppt/notesSlides/notesSlide4.xml" Id="R00251089ff8d4e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23afac84943ab" /><Relationship Type="http://schemas.openxmlformats.org/officeDocument/2006/relationships/image" Target="/ppt/media/image.png" Id="R547386ea16cd4d48" /><Relationship Type="http://schemas.openxmlformats.org/officeDocument/2006/relationships/notesSlide" Target="/ppt/notesSlides/notesSlide5.xml" Id="Rd8aef1db396145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a86ff803743d4" /><Relationship Type="http://schemas.openxmlformats.org/officeDocument/2006/relationships/notesSlide" Target="/ppt/notesSlides/notesSlide6.xml" Id="R5084fe8efef640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3ea31be354ee2" /><Relationship Type="http://schemas.openxmlformats.org/officeDocument/2006/relationships/image" Target="/ppt/media/image2.png" Id="Rdc7017b3af3a4182" /><Relationship Type="http://schemas.openxmlformats.org/officeDocument/2006/relationships/notesSlide" Target="/ppt/notesSlides/notesSlide7.xml" Id="Rbadb18691e3b41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aa7a14dcc4efa" /><Relationship Type="http://schemas.openxmlformats.org/officeDocument/2006/relationships/notesSlide" Target="/ppt/notesSlides/notesSlide8.xml" Id="R092d463b25624a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7c6c9bc6248c8" /><Relationship Type="http://schemas.openxmlformats.org/officeDocument/2006/relationships/notesSlide" Target="/ppt/notesSlides/notesSlide9.xml" Id="R79dd572d864247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4400d40a54bf7" /><Relationship Type="http://schemas.openxmlformats.org/officeDocument/2006/relationships/notesSlide" Target="/ppt/notesSlides/notesSlide10.xml" Id="Rcbcdf4531e1f4e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d73782dbd049a0" /><Relationship Type="http://schemas.openxmlformats.org/officeDocument/2006/relationships/notesSlide" Target="/ppt/notesSlides/notesSlide11.xml" Id="R2fe9e2c1b8fb47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b140b3f63447bd" /><Relationship Type="http://schemas.openxmlformats.org/officeDocument/2006/relationships/notesSlide" Target="/ppt/notesSlides/notesSlide12.xml" Id="Ra71296d4c6bf43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6E4B2-6A4C-4003-B360-74B41C77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2CC4D-4E51-467A-8B1B-9CD9A76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1F5A9-AC70-4891-9BE2-0E3337F5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BD690-2CF2-4D93-9E78-B2324094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FB9DF-7D45-4F03-9DAD-294AA5C0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D25C8-0447-4706-9222-E5F99C0D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遥感变化检测平台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02560-3537-4ED4-AE4E-B93CD984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65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65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1765A0"/>
                </a:solidFill>
                <a:latin typeface="Microsoft YaHei"/>
                <a:ea typeface="Microsoft YaHei"/>
                <a:cs typeface="Microsoft YaHei"/>
              </a:rPr>
              <a:t>阶段进展汇报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A8D37-9C39-4403-97D2-E07BC23A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8858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9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3AF75-DCED-4572-9DFF-FED6CAF4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影像管理  /  检测执行  /  结果分析  /  AI 辅助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8A64C-BBF9-4E62-A4A4-379C1D06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2026 年 10 月 17 日</a:t>
            </a:r>
          </a:p>
        </p:txBody>
      </p:sp>
    </p:spTree>
    <p:extLst>
      <p:ext uri="{BB962C8B-B14F-4D97-AF65-F5344CB8AC3E}">
        <p14:creationId xmlns:p14="http://schemas.microsoft.com/office/powerpoint/2010/main" val="1189734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88760-2B48-4D7F-827A-BF32A75C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04D84-1E39-4EE8-9C2D-D5A970D7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阶段进展概览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059AB-AD82-4F7D-9A27-C32265CB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已形成平台主要业务链路，下一步重点补齐业务效果与持续运行验证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C5938-3F24-49DA-A254-2180EA4A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41961-C5A2-4203-812F-C4A3F28C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B5D25-354E-4FC6-8E97-B7050CD6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889D0-D965-4C18-8C24-5C9421E7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8B657-2950-4CE9-9007-DE6C783E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383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影像管理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234ED-6A96-449F-B1C3-632FD54E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479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本地影像索引与月时相组织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行政区导航、完整县界选区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31DE3-2C7E-43FB-A15C-B07E237C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66C9B-F056-4CEE-81B2-FEF4E72F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383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检测执行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F8B6D-F823-45BA-A852-EDEE5BE8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479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选区与时相提交、队列进度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模型及参数随批次冻结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41FD3-6592-44A7-8E83-B4E46CA8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2747D-AB69-475F-897F-CF452702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25D4A-6D27-4EED-A0CA-293E05AB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前后时相与变化结果联动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图斑核查、统计与成果导出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56569-4829-4190-BF16-F00F0674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576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B3E8E-3A74-4ABC-8457-58518DEA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862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AI 辅助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A928C-51AE-4875-87D3-EA592CBC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958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自然语言调用平台操作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复用手动检测提交入口</a:t>
            </a:r>
          </a:p>
        </p:txBody>
      </p:sp>
    </p:spTree>
    <p:extLst>
      <p:ext uri="{BB962C8B-B14F-4D97-AF65-F5344CB8AC3E}">
        <p14:creationId xmlns:p14="http://schemas.microsoft.com/office/powerpoint/2010/main" val="1462848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233C3-0DFC-4528-B71C-3147CE0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C641B-7744-4ED7-A3A2-95FEBAD7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建设目标与业务流程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1E2A0-EC55-4DB3-9B87-8A46B3CE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把影像、模型和结果组织到同一工作区，支持变化线索发现与人工核查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1EF95-F4E6-4FB7-8B4A-44A2FA20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2817B-9BFB-4B7E-BD21-01DFE10A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FBBFF-885D-45B1-8705-8968CE11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AC6EF-1D86-4DFC-BAA5-929454BB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428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128A1-5CB2-4F6D-A325-9F7376F3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影像接入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98711-8EDA-4842-8468-2B75ED6B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098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5DAA5-5376-49F0-8241-5FEF49AD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90750"/>
            <a:ext cx="2428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A295B-7013-4B5C-81C2-2F1D6744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4792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区域与时相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EAABB-7389-4F53-B6BD-522A23E6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98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421D0-907A-4B6B-AEAA-3F143728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428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5807E-4B6D-409D-98E9-7C48D0B3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变化检测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FEA33-6E0C-4B30-BE18-7C2F1416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5E10E-EA4D-4A8C-9077-F8359D93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90750"/>
            <a:ext cx="2428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9291A-8282-4A9E-8C67-F29F6306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核查与导出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CA4CE-29B7-4A7A-8241-501C5739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登记目录</a:t>
            </a:r>
          </a:p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建立月时相索引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9C59A-0F22-4FF0-AE9E-7B4D6914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9090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选择行政区或手绘选区</a:t>
            </a:r>
          </a:p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明确比较时相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5499F-711A-4FE6-BEB8-CA14ADA2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9090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模型推理与后处理</a:t>
            </a:r>
          </a:p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查看任务状态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0E90C-C101-4830-BE5C-23EA2EDC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9090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联动查看变化图斑</a:t>
            </a:r>
          </a:p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导出空间与统计成果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AA9BA-A7E2-4026-BFE2-BCCBDAD8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1D019-A0BD-4222-AC3E-3F6F06B0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业务定位：辅助发现变化线索，为人工核查提供空间位置与结果依据</a:t>
            </a:r>
          </a:p>
        </p:txBody>
      </p:sp>
    </p:spTree>
    <p:extLst>
      <p:ext uri="{BB962C8B-B14F-4D97-AF65-F5344CB8AC3E}">
        <p14:creationId xmlns:p14="http://schemas.microsoft.com/office/powerpoint/2010/main" val="44194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9BEF2-193F-4353-826A-81DE0FFC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44A81-7144-4770-A927-05CD2C4C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平台整体架构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E2AAE-EA96-47E8-8920-5E76BEE7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前端交互、任务管理、影像处理与 GPU 推理分工明确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C617F-254A-4B34-87C2-7FC231CF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01F1A-20FA-4CE4-A47B-BFBF802B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0F689-41D1-4232-BD85-DD828E68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7D276-7DC8-4A12-8D27-6936FC00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95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82C23-CEB5-4D07-B85E-4166774E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47875"/>
            <a:ext cx="142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1A71E-7019-4716-85DC-1C84853C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85975"/>
            <a:ext cx="704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概览  ·  对比  ·  报告  ·  管理  ·  AI 助手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F6FE5-A44D-459F-A30D-3641FB49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1431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Vue / TypeScript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FF0B0-5584-4295-A733-06E09E96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1095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8FEDE-C9A2-4987-B14A-70AB4E30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142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F34E8-6DEE-4BC4-AC29-0265684C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704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配置版本  ·  任务队列  ·  状态与结果记录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FB04D-E1A5-476C-957E-D9D5249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3337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4E4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4E4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4E4F1"/>
                </a:solidFill>
                <a:latin typeface="Microsoft YaHei"/>
                <a:ea typeface="Microsoft YaHei"/>
                <a:cs typeface="Microsoft YaHei"/>
              </a:rPr>
              <a:t>Go / SQLite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AC462-854A-4652-BFF3-14F1EDD6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95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6A089-8AFA-45A4-B5E3-F22D6708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29125"/>
            <a:ext cx="142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计算层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35FF9-FEA0-4E92-BC81-31FB0816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67225"/>
            <a:ext cx="704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影像索引、裁切与后处理  →  ONNX GPU 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0A040-4139-40EC-91F4-5DF61E6E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5243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Python / CUDA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911A2-999C-4027-B7DC-0BB3BB2B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数据边界：原始影像与模型保留，裁切、任务快照和结果单独管理</a:t>
            </a:r>
          </a:p>
        </p:txBody>
      </p:sp>
    </p:spTree>
    <p:extLst>
      <p:ext uri="{BB962C8B-B14F-4D97-AF65-F5344CB8AC3E}">
        <p14:creationId xmlns:p14="http://schemas.microsoft.com/office/powerpoint/2010/main" val="1083799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F2A18-643E-4D7D-86F4-672ED0BA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A51F6-8CF6-4243-8308-356223CC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影像与行政区管理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CBF96-E24D-4E98-97F9-E0FCE1AF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已将影像来源入口与行政区层级分开组织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9DF6C-888D-4203-86AC-C45131D1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B0507-DB7F-4FFA-A3F3-7833A248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C2F1B-E5D7-4A77-9B73-9C9EE228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731ED-E1A3-44C1-960C-6340AA9929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386ea16cd4d48"/>
          <a:stretch xmlns:a="http://schemas.openxmlformats.org/drawingml/2006/main"/>
        </p:blipFill>
        <p:spPr>
          <a:xfrm xmlns:a="http://schemas.openxmlformats.org/drawingml/2006/main">
            <a:off x="971550" y="1695450"/>
            <a:ext cx="617220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93416-06C3-4EED-A073-7BBB6812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14 个影像来源入口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857A6-9C82-4C9B-A575-CE69FEC3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050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行政区知识库</a:t>
            </a:r>
          </a:p>
          <a:p xmlns:a="http://schemas.openxmlformats.org/drawingml/2006/main">
            <a:pPr>
              <a:defRPr sz="217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11 市 · 167 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19080-4CE3-4D16-83B7-D3A54BE5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按月组织可用时相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显式选择完整县界</a:t>
            </a:r>
          </a:p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保留多部件与孔洞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78582-9DD9-462A-8AB8-5A9F80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911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rPr>
              <a:t>入口数量 ≠ 完整影像覆盖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BF496-47EC-4D41-A17A-15F2D270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功能演示：真实边界 + 模拟影像与任务</a:t>
            </a:r>
          </a:p>
        </p:txBody>
      </p:sp>
    </p:spTree>
    <p:extLst>
      <p:ext uri="{BB962C8B-B14F-4D97-AF65-F5344CB8AC3E}">
        <p14:creationId xmlns:p14="http://schemas.microsoft.com/office/powerpoint/2010/main" val="205233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4CF77-6CFC-4A76-807E-F818C277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E6952-B35E-49E0-ADA0-B9D728DD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检测任务流程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CD698-EA0D-4660-92F8-073E71B0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选区、时相、模型与参数共同决定一次检测任务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7F780-7698-48C0-B31D-B54FCCD8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974A0-E88C-43EE-94E0-0E5FE4CA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3971A-4E4F-4353-819A-BF7B3ED3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24C64-9117-481B-8B2E-3A72D19A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81420-3435-4439-8CE1-3B093975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714500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确定检测条件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3E63F-89BE-49D5-9106-A8DCEA82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71700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选择矩形、多边形或完整县界；确认比较时相与模型参数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4357E-4D54-4C4D-88A9-DF172DE9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5EED5-F3BE-432C-BECC-AA266997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43250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提交并跟踪任务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DB3AD-5D2A-4AFE-8CFE-1C6BFA01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00450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裁切准备与检测进度分阶段展示；多时相按相邻组推进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31078-C05F-4000-B09F-F743835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C021B-0D63-49E6-B527-6F6BEAB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72000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保留运行依据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AB37B-FEC0-4075-B772-60933962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029200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冻结模型、配置版本和参数，使同批次任务使用一致条件</a:t>
            </a:r>
          </a:p>
        </p:txBody>
      </p:sp>
    </p:spTree>
    <p:extLst>
      <p:ext uri="{BB962C8B-B14F-4D97-AF65-F5344CB8AC3E}">
        <p14:creationId xmlns:p14="http://schemas.microsoft.com/office/powerpoint/2010/main" val="1313987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80BD0-6053-4BD7-AC1A-FBAC436E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723D0-0E06-4AE1-BF75-88693A8E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结果展示与应用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4492B-B09B-496C-BB47-16545F46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联动对比与图斑统计支持定位变化、逐项核查和成果交付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F9523-6D37-43A1-9116-E803A794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9433D-6EA7-41FD-B3C1-9930AB29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CE3F5-C803-4B52-93C2-DD8E8F81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C9524-430A-4951-AEF3-D25E75FB51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017b3af3a4182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020F6-50BB-492E-944A-65F4FF81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三图联动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B1E24-BAC1-48BC-A7C7-2DC7FAF8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前时相 / 后时相 / 变化结果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62CBD-0B1E-4FE9-AD8C-0FDDF946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图斑与统计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12B49-245F-41C9-8B6E-BF36DA41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TIFF · GeoJSON</a:t>
            </a:r>
          </a:p>
          <a:p xmlns:a="http://schemas.openxmlformats.org/drawingml/2006/main">
            <a:pPr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CSV · Shapefile ZIP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A8ACE-3A5B-4E7B-9EC1-7518C44A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6B15"/>
                </a:solidFill>
                <a:latin typeface="Microsoft YaHei"/>
                <a:ea typeface="Microsoft YaHei"/>
                <a:cs typeface="Microsoft YaHei"/>
              </a:rPr>
              <a:t>功能演示：测试数据，不代表真实检测效果；置信度不等于准确率</a:t>
            </a:r>
          </a:p>
        </p:txBody>
      </p:sp>
    </p:spTree>
    <p:extLst>
      <p:ext uri="{BB962C8B-B14F-4D97-AF65-F5344CB8AC3E}">
        <p14:creationId xmlns:p14="http://schemas.microsoft.com/office/powerpoint/2010/main" val="1811773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F7A98-813F-4119-8B83-F65048AD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A5F2A-F71A-4FD4-BD30-02A3C44A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AI 助手近期进展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0CB44-8502-4103-8A8C-34FFC7D0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自然语言操作复用平台业务入口，避免绕过现有检测校验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CE949-0C66-4537-A25D-E77BDFF4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F37FC-937B-4409-9AFB-A521620B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50CD3-918F-41CA-84EF-C3D2255D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71374-9D53-41C4-A47C-547CEC59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78B7D-D425-4B86-A8CE-565B7742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“沿用当前选区，对比 2025 年 1 月与 5 月并提交检测。”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83D7A-4FD1-4357-BC9D-3AC9EE9F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384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指令示例，非本次真实云端对话记录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B18BC-5A85-469E-A5AA-432A7D12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86D0F-ABFA-44B2-A361-B5D8760C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识别区域与时相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EB5E6-0FE6-4CA1-9441-6EDAEE31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099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33EB7-0530-49C7-9A02-908F4229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F74B6-0475-4061-9871-3625C1AD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核对工作区状态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94D79-1151-4A58-93E7-3C88DE3D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99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7B370-449E-4879-A319-F3D002EE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35B53-7523-45C5-9B1F-20DE8605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调用统一提交入口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2B659-2EAD-458B-BCFA-C43A4362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沿用已有选区与未覆盖参数；资源冲突、状态过期或信息不足时给出明确反馈</a:t>
            </a:r>
          </a:p>
        </p:txBody>
      </p:sp>
    </p:spTree>
    <p:extLst>
      <p:ext uri="{BB962C8B-B14F-4D97-AF65-F5344CB8AC3E}">
        <p14:creationId xmlns:p14="http://schemas.microsoft.com/office/powerpoint/2010/main" val="11798655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5664F-9BBE-436B-A15D-5B98741D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2FB71-02A3-4624-B8E7-8FDBFFE9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稳定性与验证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284F4-0D7A-451A-A660-1E492BE0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功能验证已有证据，真实业务效果与完整运行验收仍需补齐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56099-14BF-4047-89B9-3EA3548C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91603-2319-4C26-B5A5-14020D55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C08DC-35FD-4A85-9F75-4EE46768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FE74A-284E-4536-B6CD-2D5D0AA7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B3826-EBEB-4E5B-8B70-22B763FA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76212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已有局部验证｜真实服务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68EB8-3493-4B9D-BEDE-04CAE8F2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1932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行政区入库与查询、代码和版本一致性已记录；未运行真实整县推理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80339-C300-4271-8C1B-5B6FD938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3318E-D9E4-4B1F-BF0A-4C5F9677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9087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已有功能验证｜确定性夹具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E92B5-2761-4288-8DB4-370EE02C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4807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县界操作、时相选择、重复提交拦截、异常反馈和结果界面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76272-D97E-4718-B1A5-2D4E2CF1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10D5D-75EB-4C0B-89CF-49B4A3E0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1962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仍需复核｜真实运行与效果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61EEE-08E4-4247-8D3A-8DF6C044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07682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历史 CUDA 记录本轮未独立核实；云端 AI、业务精度和长时负载待验证</a:t>
            </a:r>
          </a:p>
        </p:txBody>
      </p:sp>
    </p:spTree>
    <p:extLst>
      <p:ext uri="{BB962C8B-B14F-4D97-AF65-F5344CB8AC3E}">
        <p14:creationId xmlns:p14="http://schemas.microsoft.com/office/powerpoint/2010/main" val="1963254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BFC2F-A92D-4CDE-AF9C-97AE2247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61A9A-5E8E-4701-A6E1-EB9650F7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当前不足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1F644-FE20-4A0F-A2ED-6838A938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下一阶段的重点是证明“结果可用”和“运行可靠”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65A06-B350-49F1-93AD-4445520C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96E06-03D9-4A2C-B9A2-E4DED1BE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D2197-2479-4A0E-A971-2825902B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55D55-9FB0-4AD4-AAC0-F45B90B5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业务精度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A40DA-379B-4E45-B774-469D6945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002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缺少代表性标注评估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3B999-FBA9-4FD2-8C35-EE999C26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002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明确漏检、误检与适用范围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E0C2E-F6E5-4A87-AE8B-EF0A7EF0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9759B-4AA5-4D1A-85A4-8A87EA5F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大范围运行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4A232-CC8D-4FBC-93A7-4792D773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98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整幅处理存在资源压力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93AAF-EB6C-4133-BA08-0D6EDBEE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098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测量时间、内存与显存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C0587-B5E9-4CEE-B256-CB200B09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7B9E0-3C67-412E-9969-F26B9789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任务恢复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12C9A-7C6C-45CE-882B-192CFF74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195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刷新与重启恢复不完整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B6788-62FB-44A8-839F-8D9E4AD6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195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验证批次恢复和状态一致性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1F7EA-9401-433F-ACE4-0F4E9CD5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3833E-4082-473D-8ED5-81A59EC0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真实 AI 调用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EB815-474D-4A0C-B1DA-B76BF73A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291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现有回归以夹具为主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85659-D14F-4659-B9EB-4C63127A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291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验证理解、执行与错误恢复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89B52-95DE-498B-B728-03E2D786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981681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AEA10-F6AE-4E76-B33D-285A8D4B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7E671-D510-4444-AA2A-FBBAAB97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下一阶段工作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F54AA-AE72-4748-AF77-F7C8B9AC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建议优先级：真实案例与精度评估 → 持续运行 → AI 能力演进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06CE3-70ED-4871-A3B0-C2A2D40A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8518D-DB9D-41F6-A3FB-7057BE46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A0313-661E-4D1A-95A0-3BE5A01F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7D78F-B6C5-4386-9629-266E538E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5BC6E-2406-4DF4-8CEF-D8022C95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76212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先建立可信案例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EB6AB-50A1-4DC9-8A04-A1C87313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1932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确定试点区域与标注；记录检测条件、核查结果及误检漏检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5E896-55A8-43F6-B709-ABC7B067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5313B-4D1C-4586-956B-8EEC865F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9087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再验证持续运行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C8034-70B5-43E5-B287-00E90074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4807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测试较大范围、长时间运行、断连与重启；据瓶颈安排改进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15B3A-164B-4E03-AB43-54CBC5E3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30BD6-8157-4B51-81B8-190A35D6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19625"/>
            <a:ext cx="987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分阶段推进 AI｜规划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49874-2EDF-4F7A-96D3-87BDB45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076825"/>
            <a:ext cx="9877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先验真实调用，再推进持续工作流与有界自主探索</a:t>
            </a:r>
          </a:p>
        </p:txBody>
      </p:sp>
    </p:spTree>
    <p:extLst>
      <p:ext uri="{BB962C8B-B14F-4D97-AF65-F5344CB8AC3E}">
        <p14:creationId xmlns:p14="http://schemas.microsoft.com/office/powerpoint/2010/main" val="11053645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65920-3E16-45DF-A976-C268DAB4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4B0D7-C4E9-4840-8CFF-A71F5400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总结与讨论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DC5A2-403F-483E-9BB6-967E8A54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平台主要能力已形成，下一步以真实案例和验收口径收敛工作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2291D-9436-4686-A4C4-EFB9D381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87FD7-DD4A-48CB-972C-3F20530B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遥感变化检测平台 · 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47654-60C2-44E2-B276-D2FED75A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F03A1-9507-48D9-B6F0-2763EC4D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已形成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A0C69-642D-44F1-94DD-32FB575B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影像组织、检测提交、结果核查与导出</a:t>
            </a:r>
          </a:p>
          <a:p xmlns:a="http://schemas.openxmlformats.org/drawingml/2006/main">
            <a:pPr>
              <a:defRPr sz="23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行政区完整选区与 AI 受控操作能力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CD468-AEFA-4018-B6BF-701451EF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B094E-8D2F-47E0-A3F6-28CAE1B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B92"/>
                </a:solidFill>
                <a:latin typeface="Microsoft YaHei"/>
                <a:ea typeface="Microsoft YaHei"/>
                <a:cs typeface="Microsoft YaHei"/>
              </a:rPr>
              <a:t>建议讨论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C600E-A348-4CF0-8F19-5C42C7C4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847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试点区域与对比时相</a:t>
            </a:r>
          </a:p>
          <a:p xmlns:a="http://schemas.openxmlformats.org/drawingml/2006/main">
            <a:pPr>
              <a:def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参考标注及人工核查方式</a:t>
            </a:r>
          </a:p>
          <a:p xmlns:a="http://schemas.openxmlformats.org/drawingml/2006/main">
            <a:pPr>
              <a:def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3458"/>
                </a:solidFill>
                <a:latin typeface="Microsoft YaHei"/>
                <a:ea typeface="Microsoft YaHei"/>
                <a:cs typeface="Microsoft YaHei"/>
              </a:rPr>
              <a:t>精度、运行规模与恢复能力的验收口径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55604-5424-43A0-9EB0-31F71560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48A"/>
                </a:solidFill>
                <a:latin typeface="Microsoft YaHei"/>
                <a:ea typeface="Microsoft YaHei"/>
                <a:cs typeface="Microsoft YaHei"/>
              </a:rPr>
              <a:t>先用代表性案例验证可用性，再确定扩大应用与能力演进节奏</a:t>
            </a:r>
          </a:p>
        </p:txBody>
      </p:sp>
    </p:spTree>
    <p:extLst>
      <p:ext uri="{BB962C8B-B14F-4D97-AF65-F5344CB8AC3E}">
        <p14:creationId xmlns:p14="http://schemas.microsoft.com/office/powerpoint/2010/main" val="1366858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2026-10-17T07:33:07.8130000Z</dcterms:created>
  <dcterms:modified xsi:type="dcterms:W3CDTF">2026-10-17T07:33:07.8130000Z</dcterms:modified>
</coreProperties>
</file>